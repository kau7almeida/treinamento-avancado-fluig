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Treinamento Avançado Fluig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01 — Introdução, Ferramentas e Boas Práticas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horas  |  12 sessões  |  JYNX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2743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jynx.com.br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do dia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 e expectativas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"Trailer" do Projeto Integrador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plataforma Fluig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pilares: Forms, BPM, Datasets, Portais, Widgets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organização de projetos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Exercício: Navegando na plataforma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de estudo e links úteis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Discussão: O que automatizar na empresa?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o Fluig?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produtividade e colaboração da TOTVS que integra processos, documentos e identidade em um único ambiente digital.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37744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2377440" cy="54864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Fluig Plataforma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291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BPM, formulários, datasets, portais, widgets, integrações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2194560"/>
            <a:ext cx="237744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2194560"/>
            <a:ext cx="2377440" cy="54864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468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Fluig Identity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0" y="3291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Sign-On, gestão de identidade e acessos centralizados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2194560"/>
            <a:ext cx="2377440" cy="2011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Shape 12"/>
          <p:cNvSpPr/>
          <p:nvPr/>
        </p:nvSpPr>
        <p:spPr>
          <a:xfrm>
            <a:off x="6035040" y="2194560"/>
            <a:ext cx="2377440" cy="54864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68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2971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Nosso Foco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126480" y="3291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avançado na plataforma com integração Protheus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da plataforma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solidFill>
            <a:srgbClr val="E8F4F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(Cliente)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 (ES6+)  |  jQuery  |  Style Guide  |  DOM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34840" y="2011680"/>
            <a:ext cx="274320" cy="27432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2029968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31520" y="2468880"/>
            <a:ext cx="7680960" cy="2011680"/>
          </a:xfrm>
          <a:prstGeom prst="rect">
            <a:avLst/>
          </a:prstGeom>
          <a:solidFill>
            <a:srgbClr val="FFF3E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Servidor Fluig (JBoss / WildFly)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914400" y="3017520"/>
            <a:ext cx="347472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914400" y="3017520"/>
            <a:ext cx="347472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5" name="Text 10"/>
          <p:cNvSpPr/>
          <p:nvPr/>
        </p:nvSpPr>
        <p:spPr>
          <a:xfrm>
            <a:off x="105156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Rhino JS (ES5)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5156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 |  Eventos de Form  |  Callbacks de Processo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017520"/>
            <a:ext cx="347472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4754880" y="3017520"/>
            <a:ext cx="3474720" cy="457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Text 14"/>
          <p:cNvSpPr/>
          <p:nvPr/>
        </p:nvSpPr>
        <p:spPr>
          <a:xfrm>
            <a:off x="489204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 SDK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9204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 |  Serviços internos  |  Indexação  |  Segurança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Rhino JS — O ponto crucial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JavaScript no servidor Fluig roda em cima do Rhino, uma engine Java que suporta apenas ES5.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2560320"/>
          </a:xfrm>
          <a:prstGeom prst="rect">
            <a:avLst/>
          </a:prstGeom>
          <a:solidFill>
            <a:srgbClr val="2A152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36576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Proibido no servidor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/ const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functions  () =&gt; {}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literals  `${}`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/ await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Array.from() / spread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3657600" cy="2560320"/>
          </a:xfrm>
          <a:prstGeom prst="rect">
            <a:avLst/>
          </a:prstGeom>
          <a:solidFill>
            <a:srgbClr val="152A1A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828800"/>
            <a:ext cx="365760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Permitido no servidor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1;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function() {}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"texto " + variavel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JSON.parse() / stringify()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/ catch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java.util.HashMap (Java!)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5 pilares do Fluig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46304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146304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548640" cy="548640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Formularios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060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convenções Fluig para entrada de dados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194560" y="1188720"/>
            <a:ext cx="146304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2194560" y="1188720"/>
            <a:ext cx="146304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2" name="Shape 9"/>
          <p:cNvSpPr/>
          <p:nvPr/>
        </p:nvSpPr>
        <p:spPr>
          <a:xfrm>
            <a:off x="2651760" y="1463040"/>
            <a:ext cx="548640" cy="548640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54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4028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Processos BPM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40280" y="26060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BPMN 2.0 para automação de fluxos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931920" y="1188720"/>
            <a:ext cx="146304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3"/>
          <p:cNvSpPr/>
          <p:nvPr/>
        </p:nvSpPr>
        <p:spPr>
          <a:xfrm>
            <a:off x="3931920" y="1188720"/>
            <a:ext cx="146304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8" name="Shape 14"/>
          <p:cNvSpPr/>
          <p:nvPr/>
        </p:nvSpPr>
        <p:spPr>
          <a:xfrm>
            <a:off x="4389120" y="1463040"/>
            <a:ext cx="548640" cy="548640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544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97764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977640" y="26060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que retornam dados (internos ou externos)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669280" y="1188720"/>
            <a:ext cx="146304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18"/>
          <p:cNvSpPr/>
          <p:nvPr/>
        </p:nvSpPr>
        <p:spPr>
          <a:xfrm>
            <a:off x="5669280" y="1188720"/>
            <a:ext cx="146304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4" name="Shape 19"/>
          <p:cNvSpPr/>
          <p:nvPr/>
        </p:nvSpPr>
        <p:spPr>
          <a:xfrm>
            <a:off x="6126480" y="1463040"/>
            <a:ext cx="548640" cy="548640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5544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71500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Portais / Pages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715000" y="26060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web gerenciáveis (WCM)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7406640" y="1188720"/>
            <a:ext cx="146304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3"/>
          <p:cNvSpPr/>
          <p:nvPr/>
        </p:nvSpPr>
        <p:spPr>
          <a:xfrm>
            <a:off x="7406640" y="1188720"/>
            <a:ext cx="146304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0" name="Shape 24"/>
          <p:cNvSpPr/>
          <p:nvPr/>
        </p:nvSpPr>
        <p:spPr>
          <a:xfrm>
            <a:off x="7863840" y="1463040"/>
            <a:ext cx="548640" cy="548640"/>
          </a:xfrm>
          <a:prstGeom prst="ellipse">
            <a:avLst/>
          </a:prstGeom>
          <a:solidFill>
            <a:srgbClr val="FFF3E0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155448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52360" y="21945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Widgets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7452360" y="260604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reutilizáveis em portais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Formulários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puro com convenções específicas do Fluig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atributo name dos campos HTML é a chave de persistência no banco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name, o dado não é salvo (erro #1 mais comum)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todos os elementos HTML: input, select, textarea, radio, checkbox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avançados: Zoom, AutoComplete, listas dinâmicas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Guide fornece padrão visual consistente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Processos BPM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2.0 — padrão internacional de modelagem de processos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Atividades: tarefas manuais ou automáticas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Eventos: início, fim, timer, sinal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Gateways: decisões (exclusivo, paralelo, inclusivo)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 formulário permitem automação em cada etapa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vale fora do Fluig — BPMN é universal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Fluig — onde os dados nascem e são consumidos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Internos: dados da própria plataforma (usuários, grupos, processos)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Customizados: funções JS que retornam dados em formato tabular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Integração: podem encapsular chamadas REST/SOAP a sistemas externos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Jornalização: cache automático para performance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projeto: vamos buscar fornecedores e produtos do Protheus via dataset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Portais, Pages e Widgets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365760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188720"/>
            <a:ext cx="365760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Portais / Pages (WCM)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18288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web gerenciáveis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customizados (HTML/CSS)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Portais públicos e privados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Internacionalização (PT/EN/ES)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365760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1188720"/>
            <a:ext cx="365760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Widgets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37760" y="182880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reutilizáveis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JS customizado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binding (ações do usuário)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com Style Guide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 de nomenclatura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frm_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frm_compras_solicitacao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wkf_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wkf_compras_aprovacao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ds_protheus_fornecedores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wdg_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wdg_compras_dashboard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prt_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prt_intranet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74720"/>
            <a:ext cx="320040" cy="3200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88720" y="3474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prefixo identifica o tipo, o módulo agrupa por área de negócio. Com 200+ artefatos na plataforma, essa organização é essencial.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Exercício: Navegando na plataforma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| Podem trabalhar em dupla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Encontre 3 formulários diferentes e anote o nome de cada um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Abra um processo e identifique: quantas atividades? Tem gateway?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Execute o dataset colleague. Quantos registros retornou?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Encontre um portal e identifique quais widgets ele usa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Bônus: Inspecione (F12) um formulário e encontre um campo com atributo name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Links úteis e materiais de estudo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TDN Fluig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tdn.totvs.com/display/public/fluig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style.fluig.com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tdn.totvs.com/display/public/fluig/Dev+Guide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tdn.totvs.com/display/public/fluig/REST+API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tdn.totvs.com/display/public/fluig/SDK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Fórum TOTVS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forum.fluig.com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takeaways de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Fluig tem 5 pilares que se conectam: Forms, BPM, Datasets, Portais e Widgets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514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JavaScript do Fluig roda no servidor com Rhino (ES5) — não é o mesmo JS do browser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657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5448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 e organização definem se seu projeto vai escalar ou virar um caos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sessão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Sessão 02 — Configuração do Ambiente e fluig Style Guide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Quinta-feira, 20/03/2026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Eclipse + plugin fluig Studio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deploy: Hello Fluig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pelo fluig Style Guide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2743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jynx.com.br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Sessão 01 - Introdução, Ferramentas e Boas Práticas</dc:title>
  <dc:subject>PptxGenJS Presentation</dc:subject>
  <dc:creator>JYNX</dc:creator>
  <cp:lastModifiedBy>JYNX</cp:lastModifiedBy>
  <cp:revision>1</cp:revision>
  <dcterms:created xsi:type="dcterms:W3CDTF">2026-03-14T21:01:10Z</dcterms:created>
  <dcterms:modified xsi:type="dcterms:W3CDTF">2026-03-14T21:01:10Z</dcterms:modified>
</cp:coreProperties>
</file>