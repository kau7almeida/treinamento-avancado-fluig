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Treinamento Avançado Fluig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02 — Configuração do Ambiente e fluig Style Guide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  |  12 sessões  |  JYNX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do 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Reconexão: resumo da sessão 01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Eclipse + plugin fluig Studio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projetos no fluig Studio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servidor + primeiro deploy ("Hello Fluig")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pelo fluig Style Guide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Exercício: formulário com 5+ componentes do Style Guide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Pré-requisitos do ambiente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JDK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 8 ou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-version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Eclipse 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EE Developers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→ About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4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 servidor Fluig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[servidor]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Instalação do plugin fluig Studio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5544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188720"/>
            <a:ext cx="15544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→ Install New Software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94560" y="1188720"/>
            <a:ext cx="15544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2194560" y="1188720"/>
            <a:ext cx="15544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0" y="141732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28600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URL do update site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1188720"/>
            <a:ext cx="15544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3931920" y="1188720"/>
            <a:ext cx="15544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7" name="Shape 14"/>
          <p:cNvSpPr/>
          <p:nvPr/>
        </p:nvSpPr>
        <p:spPr>
          <a:xfrm>
            <a:off x="4480560" y="141732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2336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componentes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0" y="1188720"/>
            <a:ext cx="15544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5669280" y="1188720"/>
            <a:ext cx="15544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76072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Accept → Finish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06640" y="1188720"/>
            <a:ext cx="15544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3"/>
          <p:cNvSpPr/>
          <p:nvPr/>
        </p:nvSpPr>
        <p:spPr>
          <a:xfrm>
            <a:off x="7406640" y="1188720"/>
            <a:ext cx="15544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7" name="Shape 24"/>
          <p:cNvSpPr/>
          <p:nvPr/>
        </p:nvSpPr>
        <p:spPr>
          <a:xfrm>
            <a:off x="7955280" y="141732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8" name="Text 25"/>
          <p:cNvSpPr/>
          <p:nvPr/>
        </p:nvSpPr>
        <p:spPr>
          <a:xfrm>
            <a:off x="79552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49808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Eclipse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solidFill>
            <a:srgbClr val="FFF3E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0332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80160" y="35661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do update site:  http://fluig.totvs.com/update-site/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projetos no fluig Studio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meu-projeto/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forms/              ← Formulários HTML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workflow/            ← Processos BPMN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datasets/            ← Datasets customizados (.js)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wcm/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widget/          ← Widgets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layout/          ← Layouts de portal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events/              ← Eventos globais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resources/           ← Imagens, CSS, JS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4206240"/>
            <a:ext cx="54864" cy="5486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define o tipo de artefato. Formulário fora de forms/ não faz deploy como formulário.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Conexão com o servidor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→ Preferences → fluig → Servers → Add Server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servidor-treinamento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 do servidor — preencher no dia]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[Porta — preencher no dia]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[Credencial — preencher no dia]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[Credencial — preencher no dia]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319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840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Connection → "Connected successfully"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Primeiro deploy: "Hello Fluig"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Shape 4"/>
          <p:cNvSpPr/>
          <p:nvPr/>
        </p:nvSpPr>
        <p:spPr>
          <a:xfrm>
            <a:off x="1645920" y="146304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formulário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forms/ → New → 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frm_hello_fluig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20440" y="1188720"/>
            <a:ext cx="24688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9"/>
          <p:cNvSpPr/>
          <p:nvPr/>
        </p:nvSpPr>
        <p:spPr>
          <a:xfrm>
            <a:off x="3520440" y="1188720"/>
            <a:ext cx="246888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46304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6576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Escrever HTML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5760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+ Grid + Inputs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atributo name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1188720"/>
            <a:ext cx="24688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188720"/>
            <a:ext cx="246888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9" name="Shape 16"/>
          <p:cNvSpPr/>
          <p:nvPr/>
        </p:nvSpPr>
        <p:spPr>
          <a:xfrm>
            <a:off x="7223760" y="146304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0" name="Text 17"/>
          <p:cNvSpPr/>
          <p:nvPr/>
        </p:nvSpPr>
        <p:spPr>
          <a:xfrm>
            <a:off x="7223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4465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+ Testar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4652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fluig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no browser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fluig Style Guide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design do Fluig — consistência, manutenção e compatibilidade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24688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46304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Consistência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formulários e portais com a mesma aparência profissional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20440" y="1463040"/>
            <a:ext cx="24688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46304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Manutenção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padronizado = menos código customizado = menos bugs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1463040"/>
            <a:ext cx="24688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146304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Compatibilidade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do Fluig não quebram seu layout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style.fluig.com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System — 12 colunas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col-md-1 (x12)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6035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1188720"/>
            <a:ext cx="6035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8" name="Shape 5"/>
          <p:cNvSpPr/>
          <p:nvPr/>
        </p:nvSpPr>
        <p:spPr>
          <a:xfrm>
            <a:off x="2011680" y="1188720"/>
            <a:ext cx="6035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Shape 6"/>
          <p:cNvSpPr/>
          <p:nvPr/>
        </p:nvSpPr>
        <p:spPr>
          <a:xfrm>
            <a:off x="2651760" y="1188720"/>
            <a:ext cx="6035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188720"/>
            <a:ext cx="6035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Shape 8"/>
          <p:cNvSpPr/>
          <p:nvPr/>
        </p:nvSpPr>
        <p:spPr>
          <a:xfrm>
            <a:off x="3931920" y="1188720"/>
            <a:ext cx="6035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188720"/>
            <a:ext cx="6035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Shape 10"/>
          <p:cNvSpPr/>
          <p:nvPr/>
        </p:nvSpPr>
        <p:spPr>
          <a:xfrm>
            <a:off x="5212080" y="1188720"/>
            <a:ext cx="6035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4" name="Shape 11"/>
          <p:cNvSpPr/>
          <p:nvPr/>
        </p:nvSpPr>
        <p:spPr>
          <a:xfrm>
            <a:off x="5852160" y="1188720"/>
            <a:ext cx="6035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1188720"/>
            <a:ext cx="6035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6" name="Shape 13"/>
          <p:cNvSpPr/>
          <p:nvPr/>
        </p:nvSpPr>
        <p:spPr>
          <a:xfrm>
            <a:off x="7132320" y="1188720"/>
            <a:ext cx="6035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0" y="1188720"/>
            <a:ext cx="6035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15544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col-md-6 + col-md-6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1737360"/>
            <a:ext cx="380390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173736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1737360"/>
            <a:ext cx="380390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173736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" y="2103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 + col-md-4 + col-md-4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2286000"/>
            <a:ext cx="252374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22860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2286000"/>
            <a:ext cx="252374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7" name="Text 24"/>
          <p:cNvSpPr/>
          <p:nvPr/>
        </p:nvSpPr>
        <p:spPr>
          <a:xfrm>
            <a:off x="3291840" y="22860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852160" y="2286000"/>
            <a:ext cx="2523744" cy="32004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9" name="Text 26"/>
          <p:cNvSpPr/>
          <p:nvPr/>
        </p:nvSpPr>
        <p:spPr>
          <a:xfrm>
            <a:off x="5852160" y="22860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" y="2651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col-md-3 + col-md-9 (sidebar + conteúdo)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" y="2834640"/>
            <a:ext cx="1883664" cy="320040"/>
          </a:xfrm>
          <a:prstGeom prst="rect">
            <a:avLst/>
          </a:prstGeom>
          <a:solidFill>
            <a:srgbClr val="E85D04">
              <a:alpha val="3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283464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651760" y="2834640"/>
            <a:ext cx="5724144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4" name="Text 31"/>
          <p:cNvSpPr/>
          <p:nvPr/>
        </p:nvSpPr>
        <p:spPr>
          <a:xfrm>
            <a:off x="2651760" y="2834640"/>
            <a:ext cx="5724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col-md-9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class="row"&gt;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class="col-md-6"&gt;Coluna 1&lt;/div&gt;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class="col-md-6"&gt;Coluna 2&lt;/div&gt;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essenciais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form-control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de texto, email,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form-control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suspensas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primário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 btn-primary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principal (salvar)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padrão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 btn-default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secundária (cancelar)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perigo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 btn-danger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destrutiva (excluir)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panel-default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campos relacionados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table-striped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de itens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alert-info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para o usuário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fade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Confirmações e diálogos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não encontrado → Configurar JAVA_HOME nas variáveis de ambiente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não aparece → Reiniciar Eclipse, verificar URL do update site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refused → Verificar http vs https, porta, e firewall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sem erro mas form não aparece → Limpar cache do browser (Ctrl+Shift+Del)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lento → eclipse.ini: mudar -Xmx1024m para -Xmx2048m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Exercício: formulário com Style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| Tema livre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formulário sobre qualquer tema (cadastro, pedido, chamado...)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usar pelo menos 5 componentes do Style Guide: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Grid (col-md-*)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Inputs (text, select, date, etc)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Botões (btn-primary, btn-default)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Painel (panel)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+ Um componente à sua escolha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takeaways de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fluig Studio é plugin do Eclipse — projetos têm estrutura de pastas obrigatória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14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= Export para o servidor. Criou, exportou, testou no browser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 é o catálogo de componentes — use sempre, nunca reinvente a roda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Sessão 03 — Formulários Customizados e Dinâmicos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Segunda-feira, 24/03/2026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formulários no Fluig (HTML + convenções)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tipos de input: text, select, radio, checkbox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Validações, helpers e boas práticas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práticos intensos!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Sessão 02 - Configuração do Ambiente e fluig Style Guide</dc:title>
  <dc:subject>PptxGenJS Presentation</dc:subject>
  <dc:creator>JYNX</dc:creator>
  <cp:lastModifiedBy>JYNX</cp:lastModifiedBy>
  <cp:revision>1</cp:revision>
  <dcterms:created xsi:type="dcterms:W3CDTF">2026-03-14T21:59:06Z</dcterms:created>
  <dcterms:modified xsi:type="dcterms:W3CDTF">2026-03-14T21:59:06Z</dcterms:modified>
</cp:coreProperties>
</file>